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 on the tension — don't read the title. You want frontier capability AND a happy regulator; today you're told to pick one. End on: 'What if you didn't have to choose?'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contradiction in ~90s, then advance to the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spine in one breath, trace one prompt through the pipeline, and deliver the quotable line: 'We kept the protocol and deleted the server.' Capability half + constraint half = squaring the circle.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executive anchor — screenshot-friendly for CXOs. Security, governance, auditing are one on-device control plane. Map each to its MCP mechanism, the policy it enforces, and the threat it 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+ governance, demonstrated. Two gates answer two questions (content safety, identity) over a Keystore root; the 0.75 router decides where a request runs. Make the governance leap — PII pinned to the local path. DEMO: scope rejection + the triage confidence numbers, all offline. Note the LLM-path score is a placeholder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residency + auditing. Left: nothing leaves — residency, minimisation, purpose, mapped to DPDP/GDPR. Right: every decision signed and provable. DEMO: trigger a block, the record appears offline. Keep the signing claim aligned with your keyed-HMAC decision (footnote makes it explicit).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verticals as governance policy bundles over a constant control plane. Drop one ROI number hard — this is the platform note for product leaders.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real-vs-roadmap line yourself — it's what gets you trusted by maintainers. Then restate the spine and make the ask explicit and low-friction. Leave 60–90s for Q&amp;A. Pre-warm models and have a fallback recording of the 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1234440"/>
            <a:ext cx="1783080" cy="3657600"/>
          </a:xfrm>
          <a:prstGeom prst="roundRect">
            <a:avLst>
              <a:gd name="adj" fmla="val 11282"/>
            </a:avLst>
          </a:prstGeom>
          <a:solidFill>
            <a:srgbClr val="12294D"/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18288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2514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D4BF"/>
                </a:solidFill>
              </a:rPr>
              <a:t>airplane mode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646920" y="292608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bytes</a:t>
            </a:r>
            <a:endParaRPr lang="en-US" sz="2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D9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cloud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DEV SUMMIT MUMBAI · 14–15 JUNE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73736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Policy Is the Protocol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as an on-device governance control plane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7033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Phi-3 Mini + the Model Context Protocol entirely on a phone —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frontier-class capability, zero PII to an external server.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name ]   ·   [ Role / Company ]   ·   @handle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You're told to pick one. You shouldn't have to.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91440" cy="384048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21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regulation demands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4617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 must not leave the device or jurisdiction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· India's DPDP Act · sector mandates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Healthcare, finance, defense — residency is non-negotiable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Auditability of every automated decision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55080" y="1874520"/>
            <a:ext cx="5257800" cy="384048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1874520"/>
            <a:ext cx="91440" cy="3840480"/>
          </a:xfrm>
          <a:prstGeom prst="rect">
            <a:avLst/>
          </a:prstGeom>
          <a:solidFill>
            <a:srgbClr val="E2574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945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221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default stack does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720840" y="2926080"/>
            <a:ext cx="4617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user data to a cloud endpoint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hopes for the best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Per-query token cost, network latency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completely in dead zones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20840" y="49377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didn't have to choose?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&amp;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MCP's value at the edge isn't tool-calling — it becomes the </a:t>
            </a:r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enforcement point</a:t>
            </a:r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what model runs, which tools are allowed, which governance rule applies — one local decision, zero PII egress.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7556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49631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AssistantScreen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288" y="2720340"/>
            <a:ext cx="18288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377440" y="2331720"/>
            <a:ext cx="17556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377440" y="249631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McpClient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32304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ToolCall + JWT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272034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06240" y="2331720"/>
            <a:ext cx="17556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206240" y="249631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McpServer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261104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720340"/>
            <a:ext cx="182880" cy="182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035040" y="2331720"/>
            <a:ext cx="1755648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035040" y="249631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+ IAM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089904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gate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88" y="272034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863840" y="2331720"/>
            <a:ext cx="17556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863840" y="249631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ToolRegistry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918704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router</a:t>
            </a:r>
            <a:endParaRPr lang="en-US" sz="10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88" y="2720340"/>
            <a:ext cx="182880" cy="18288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692640" y="2331720"/>
            <a:ext cx="1755648" cy="960120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9692640" y="249631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747504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 · RAG · LLM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48640" y="3657600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E8FBF7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67328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188720" y="365760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network hop anywhere on this path. We kept the protocol and deleted the server.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548640" y="4526280"/>
            <a:ext cx="5440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77724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capability half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77240" y="50292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Phi-3 Mini (int4) on Snapdragon HTP via ExecuTorch + full MCP orchestration — all in-process.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172200" y="4526280"/>
            <a:ext cx="5440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640080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 half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6400800" y="50292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egress makes DPDP / GDPR a structural guarantee — privacy as an architecture property, not a policy.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PLANE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concerns, one decision point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governance and auditing aren't bolt-ons — MCP enforces all three on-device, in the same pass.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661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3566160" cy="7315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25856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34086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371600" y="2523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&amp; content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3017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60M GuardModel + ES256 scoped capability tokens, signed in Android Keystore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2960" y="39319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4160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tools an agent may call; blocks jailbreak, PII and safety red-flags pre-inference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2960" y="48463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 AGAINST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access · prompt injection · content misuse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297680" y="2103120"/>
            <a:ext cx="35661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97680" y="2103120"/>
            <a:ext cx="3566160" cy="73152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20" name="Shape 17"/>
          <p:cNvSpPr/>
          <p:nvPr/>
        </p:nvSpPr>
        <p:spPr>
          <a:xfrm>
            <a:off x="4553712" y="225856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340864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20640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5120640" y="2523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routing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0" y="3017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572000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McpServer + ToolRegistry + the 0.75 confidence router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0" y="39319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72000" y="4160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model runs, where data may go (nowhere), which policy applies — PII pinned to the local path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4572000" y="48463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 AGAINST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572000" y="5074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egress · runaway cost · uncontrolled escalation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046720" y="2103120"/>
            <a:ext cx="35661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046720" y="2103120"/>
            <a:ext cx="356616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Shape 28"/>
          <p:cNvSpPr/>
          <p:nvPr/>
        </p:nvSpPr>
        <p:spPr>
          <a:xfrm>
            <a:off x="8302752" y="225856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2340864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869680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Auditing</a:t>
            </a:r>
            <a:endParaRPr lang="en-US" sz="1700" dirty="0"/>
          </a:p>
        </p:txBody>
      </p:sp>
      <p:sp>
        <p:nvSpPr>
          <p:cNvPr id="35" name="Text 30"/>
          <p:cNvSpPr/>
          <p:nvPr/>
        </p:nvSpPr>
        <p:spPr>
          <a:xfrm>
            <a:off x="8869680" y="2523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8321040" y="3017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8321040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AuditJournal → Room DB; signed per decision, exportable on reconnect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8321040" y="39319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8321040" y="4160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— blocked, unauthorized or answered — traceable and provable, on-device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8321040" y="48463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 AGAINST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8321040" y="5074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Non-repudiation gaps · compliance blind spots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548640" y="5852160"/>
            <a:ext cx="11064240" cy="566928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971032"/>
            <a:ext cx="329184" cy="329184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234440" y="585216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enforced on-device · zero PII egress · </a:t>
            </a:r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&amp; GDPR satisfied by construction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GOVERNANCE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allowed · what runs where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security gates decide if a request may run; the confidence router decides where it runs.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949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12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— two gates, one hardware root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4937760" cy="100584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803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8163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 · GuardModel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463040" y="31272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Content: blocks jailbreak / PII / safety · fail-closed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3840480"/>
            <a:ext cx="4937760" cy="1005840"/>
          </a:xfrm>
          <a:prstGeom prst="rect">
            <a:avLst/>
          </a:prstGeom>
          <a:solidFill>
            <a:srgbClr val="0E938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0233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39593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 · IamService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463040" y="42702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AF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Identity: ES256 scope check · key in Keystore TEE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2057400"/>
            <a:ext cx="53949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46520" y="2212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— the 0.75 router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446520" y="2670048"/>
            <a:ext cx="4937760" cy="420624"/>
          </a:xfrm>
          <a:prstGeom prst="roundRect">
            <a:avLst>
              <a:gd name="adj" fmla="val 10870"/>
            </a:avLst>
          </a:prstGeom>
          <a:solidFill>
            <a:srgbClr val="EDF3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836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955280" y="26700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300 ms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144000" y="26700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≥ 0.75 · ~80% of queries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446520" y="3172968"/>
            <a:ext cx="4937760" cy="420624"/>
          </a:xfrm>
          <a:prstGeom prst="roundRect">
            <a:avLst>
              <a:gd name="adj" fmla="val 10870"/>
            </a:avLst>
          </a:prstGeom>
          <a:solidFill>
            <a:srgbClr val="EDF3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83680" y="317296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 + RAG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955280" y="317296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~322 ms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9144000" y="31729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+ FAISS + re-run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446520" y="3675888"/>
            <a:ext cx="4937760" cy="420624"/>
          </a:xfrm>
          <a:prstGeom prst="roundRect">
            <a:avLst>
              <a:gd name="adj" fmla="val 10870"/>
            </a:avLst>
          </a:prstGeom>
          <a:solidFill>
            <a:srgbClr val="EDF3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583680" y="367588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7B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955280" y="36758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 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9144000" y="36758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in reserve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446520" y="4251960"/>
            <a:ext cx="4937760" cy="594360"/>
          </a:xfrm>
          <a:prstGeom prst="rect">
            <a:avLst/>
          </a:prstGeom>
          <a:solidFill>
            <a:srgbClr val="FFF6E6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83680" y="42519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leap: PII-flagged queries pinned to the local path — forbidden from escalating.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822960" y="52578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LIVE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1920240" y="525780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Under-scoped token rejected before any model runs</a:t>
            </a:r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</a:t>
            </a:r>
            <a:pPr indent="0" marL="0">
              <a:buNone/>
            </a:pPr>
            <a:r>
              <a:rPr lang="en-US" sz="130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confidence 0.93 → 0.62 → RAG → 0.91</a:t>
            </a:r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</a:t>
            </a:r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offline throughout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&amp; AUDITING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Nothing leaves — everything is provable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Residency is enforced by the data flow; every decision leaves a signed, append-only record.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949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— nothing leaves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2788920"/>
            <a:ext cx="4937760" cy="512064"/>
          </a:xfrm>
          <a:prstGeom prst="rect">
            <a:avLst/>
          </a:prstGeom>
          <a:solidFill>
            <a:srgbClr val="F7F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788920"/>
            <a:ext cx="73152" cy="5120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278892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331720" y="278892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bytes leave the device or jurisdiction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" y="3392424"/>
            <a:ext cx="4937760" cy="512064"/>
          </a:xfrm>
          <a:prstGeom prst="rect">
            <a:avLst/>
          </a:prstGeom>
          <a:solidFill>
            <a:srgbClr val="F7F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392424"/>
            <a:ext cx="73152" cy="5120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39242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Minimisation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331720" y="339242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redacted before any storage (cap 500/session)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" y="3995928"/>
            <a:ext cx="4937760" cy="512064"/>
          </a:xfrm>
          <a:prstGeom prst="rect">
            <a:avLst/>
          </a:prstGeom>
          <a:solidFill>
            <a:srgbClr val="F7F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3995928"/>
            <a:ext cx="73152" cy="5120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99592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2331720" y="399592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tokens gate what each tool may read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&amp; GDPR satisfied by construction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17920" y="2057400"/>
            <a:ext cx="5394960" cy="315468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24028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9037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Auditing — every decision provable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492240" y="27432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in Room DB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per entry — tamper-evident*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Surfaced live in the AuditLog Viewer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Exportable on reconnect — CRM, compliance, responders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492240" y="4297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Captures: path · confidence · latency · agent ID · scopes · timestamp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492240" y="464515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 compliance · liability &amp; forensics · HSE logs · pharmacovigilance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5A524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96128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28016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Live: trigger a block → the signed record appears, offline.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SHA-256 + salt today; keyed-HMAC (Keystore) upgrade makes tamper-evidence fully defensible.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GENERALISES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runtime, six verticals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three files. The control plane stays constant — each vertical is a governance policy bundle.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PER DOMAIN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E8FBF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corpus.jsonl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237744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E8FBF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domain.faiss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E8FBF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IDENTICAL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2331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orchestration · security stack · inference runtime · federated loop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3520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46120"/>
            <a:ext cx="82296" cy="7498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461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51960" y="3246120"/>
            <a:ext cx="3520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3246120"/>
            <a:ext cx="82296" cy="7498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32461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/ MedRep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55280" y="3246120"/>
            <a:ext cx="3520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55280" y="3246120"/>
            <a:ext cx="82296" cy="7498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32461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3520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160520"/>
            <a:ext cx="82296" cy="7498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1605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Response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251960" y="4160520"/>
            <a:ext cx="3520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51960" y="4160520"/>
            <a:ext cx="82296" cy="7498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41605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Translator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955280" y="4160520"/>
            <a:ext cx="3520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955280" y="4160520"/>
            <a:ext cx="82296" cy="7498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1605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CX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68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CX: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$450K/yr </a:t>
            </a:r>
            <a:pPr indent="0" marL="0">
              <a:buNone/>
            </a:pPr>
            <a:r>
              <a:rPr lang="en-US" sz="145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Einstein displaced per 500 reps     </a:t>
            </a:r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$109K/yr </a:t>
            </a:r>
            <a:pPr indent="0" marL="0">
              <a:buNone/>
            </a:pPr>
            <a:r>
              <a:rPr lang="en-US" sz="145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tokens → $0 after deployment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&amp; CLOSE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today vs. on the path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40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91440" cy="2697480"/>
          </a:xfrm>
          <a:prstGeom prst="rect">
            <a:avLst/>
          </a:prstGeom>
          <a:solidFill>
            <a:srgbClr val="1FA97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55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today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2860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In-process MCP — no transport, no server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scope enforcement at the gate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 + RAG confidence routing (from logits)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signed audit log in Room DB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1554480"/>
            <a:ext cx="91440" cy="2697480"/>
          </a:xfrm>
          <a:prstGeom prst="rect">
            <a:avLst/>
          </a:prstGeom>
          <a:solidFill>
            <a:srgbClr val="F5A52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373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1755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path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2860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Keystore-backed HMAC on the audit log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JWT signature re-verification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2B + model-agnostic routing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Per-domain policy parameterisation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0" y="4526280"/>
            <a:ext cx="12161520" cy="2331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" y="4754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Capability without the cloud. Compliance without the binder.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658368" y="5577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agents under DPDP — or anywhere the network can't be trusted? Let's compare notes. I'm here all day.</a:t>
            </a:r>
            <a:endParaRPr lang="en-US" sz="15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26364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6245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github.com/yourhandle</a:t>
            </a:r>
            <a:endParaRPr lang="en-US" sz="1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626364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92040" y="6245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9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linkedin.com/in/yourhandle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Policy Is the Protocol</dc:title>
  <dc:subject>PptxGenJS Presentation</dc:subject>
  <dc:creator>MCP Dev Summit Mumbai talk</dc:creator>
  <cp:lastModifiedBy>MCP Dev Summit Mumbai talk</cp:lastModifiedBy>
  <cp:revision>1</cp:revision>
  <dcterms:created xsi:type="dcterms:W3CDTF">2026-05-29T13:14:08Z</dcterms:created>
  <dcterms:modified xsi:type="dcterms:W3CDTF">2026-05-29T13:14:08Z</dcterms:modified>
</cp:coreProperties>
</file>